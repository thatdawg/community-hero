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0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0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21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9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0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2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5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4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3035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19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2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329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421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8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DCC7-EF56-4571-9DBF-9CACD38FF60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1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ychroma.com/" TargetMode="External"/><Relationship Id="rId2" Type="http://schemas.openxmlformats.org/officeDocument/2006/relationships/hyperlink" Target="https://www.langchai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mupdf.readthedocs.io/" TargetMode="External"/><Relationship Id="rId5" Type="http://schemas.openxmlformats.org/officeDocument/2006/relationships/hyperlink" Target="https://fastapi.tiangolo.com/" TargetMode="External"/><Relationship Id="rId4" Type="http://schemas.openxmlformats.org/officeDocument/2006/relationships/hyperlink" Target="https://streamlit.io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5462-AD8A-295E-4E23-F37D3CAD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509923"/>
            <a:ext cx="9448800" cy="1228531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cs typeface="Times New Roman" panose="02020603050405020304" pitchFamily="18" charset="0"/>
              </a:rPr>
              <a:t>Personal Study </a:t>
            </a:r>
            <a:r>
              <a:rPr sz="4400" dirty="0" smtClean="0">
                <a:cs typeface="Times New Roman" panose="02020603050405020304" pitchFamily="18" charset="0"/>
              </a:rPr>
              <a:t>Planner </a:t>
            </a:r>
            <a:r>
              <a:rPr sz="4400" dirty="0"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9A628-9B6C-2728-0903-2B64EA8A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97251"/>
            <a:ext cx="9448800" cy="6858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defRPr sz="1800" b="0">
                <a:solidFill>
                  <a:srgbClr val="FFFFFF"/>
                </a:solidFill>
              </a:defRPr>
            </a:pPr>
            <a:r>
              <a:rPr sz="2400" dirty="0">
                <a:cs typeface="Times New Roman" panose="02020603050405020304" pitchFamily="18" charset="0"/>
              </a:rPr>
              <a:t>Proposed by : </a:t>
            </a:r>
            <a:r>
              <a:rPr lang="en-IN" sz="2400" dirty="0">
                <a:cs typeface="Times New Roman" panose="02020603050405020304" pitchFamily="18" charset="0"/>
              </a:rPr>
              <a:t>Omni</a:t>
            </a:r>
            <a:endParaRPr sz="2400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0427D-894F-6B68-2F0D-13B88C8B4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7948" y="-118381"/>
            <a:ext cx="6277897" cy="336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2889-59B9-56D6-0184-30FCD1CC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627B-D038-88DE-712C-13982468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Keep the presentation within the prescribed slide limit.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Allowed Font- Century Gothic, Times New Roman, Arial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Line spacing- 1.5, Font Color- White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Use concise text, visuals, and diagrams wherever appropriate.</a:t>
            </a:r>
          </a:p>
          <a:p>
            <a:pPr>
              <a:lnSpc>
                <a:spcPct val="150000"/>
              </a:lnSpc>
            </a:pPr>
            <a:r>
              <a:rPr lang="en-US" dirty="0"/>
              <a:t>Clearly explain the problem, proposed solution, feasibility, and expected impact.</a:t>
            </a:r>
          </a:p>
          <a:p>
            <a:pPr>
              <a:lnSpc>
                <a:spcPct val="150000"/>
              </a:lnSpc>
            </a:pPr>
            <a:r>
              <a:rPr lang="en-US" dirty="0"/>
              <a:t>Be realistic about challenges, risks, and implementation constraints.</a:t>
            </a:r>
          </a:p>
          <a:p>
            <a:pPr>
              <a:lnSpc>
                <a:spcPct val="150000"/>
              </a:lnSpc>
            </a:pPr>
            <a:r>
              <a:rPr lang="en-US" dirty="0"/>
              <a:t>Additional slides may be added only if essential to explain the idea.</a:t>
            </a:r>
          </a:p>
          <a:p>
            <a:pPr>
              <a:lnSpc>
                <a:spcPct val="150000"/>
              </a:lnSpc>
            </a:pPr>
            <a:r>
              <a:rPr lang="en-US" dirty="0"/>
              <a:t>Ensure all content is original and properly credited where external references are used.</a:t>
            </a:r>
          </a:p>
        </p:txBody>
      </p:sp>
    </p:spTree>
    <p:extLst>
      <p:ext uri="{BB962C8B-B14F-4D97-AF65-F5344CB8AC3E}">
        <p14:creationId xmlns:p14="http://schemas.microsoft.com/office/powerpoint/2010/main" val="274415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F273-DA9D-33FC-A110-B6AB3712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2D61-4709-CADB-2F5E-A2847791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An AI Agent that transforms scattered academic inputs (syllabi, timetable, assignments) into personalized weekly study </a:t>
            </a:r>
            <a:r>
              <a:rPr dirty="0" smtClean="0"/>
              <a:t>plans</a:t>
            </a:r>
            <a:endParaRPr lang="en-IN" dirty="0"/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Students upload PDFs or enter deadlines manually; the agent parses, prioritizes, and generates an adaptive calendar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Key Features: Auto-plan generation, interactive editing (accept/edit/reject), progress tracking, smart reminders, transparent reasoning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Target Users: College students managing 5–6 courses, hostel students with fixed study hours, part-time learners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Workflow: Upload Inputs → Parse via RAG → LLM Plan Generation → Review &amp; Edit → Adaptive Tracking</a:t>
            </a:r>
          </a:p>
        </p:txBody>
      </p:sp>
    </p:spTree>
    <p:extLst>
      <p:ext uri="{BB962C8B-B14F-4D97-AF65-F5344CB8AC3E}">
        <p14:creationId xmlns:p14="http://schemas.microsoft.com/office/powerpoint/2010/main" val="39270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D1CA-09EA-6081-6FDC-8119DB12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CDF-194F-1B0A-2B88-D454258E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Technical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18D5-A31A-E3C3-E5A0-408C35943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08111"/>
            <a:ext cx="10820400" cy="4940566"/>
          </a:xfrm>
        </p:spPr>
        <p:txBody>
          <a:bodyPr wrap="square">
            <a:noAutofit/>
          </a:bodyPr>
          <a:lstStyle/>
          <a:p>
            <a:pPr marL="0" indent="0" algn="ctr"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2000" b="1" dirty="0"/>
              <a:t>Technologies / Tools:</a:t>
            </a:r>
            <a:endParaRPr lang="en-IN" sz="2000" b="1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 smtClean="0"/>
              <a:t>1</a:t>
            </a:r>
            <a:r>
              <a:rPr sz="1500" dirty="0"/>
              <a:t>. Languages: Python (primary)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   • Frontend: </a:t>
            </a:r>
            <a:r>
              <a:rPr sz="1500" dirty="0" err="1"/>
              <a:t>Streamlit</a:t>
            </a:r>
            <a:r>
              <a:rPr sz="1500" dirty="0"/>
              <a:t> (MVP) / React (production)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   • Backend: </a:t>
            </a:r>
            <a:r>
              <a:rPr sz="1500" dirty="0" err="1"/>
              <a:t>FastAPI</a:t>
            </a: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   • AI/ML: GPT-4 / Gemini + </a:t>
            </a:r>
            <a:r>
              <a:rPr sz="1500" dirty="0" err="1"/>
              <a:t>LangChain</a:t>
            </a:r>
            <a:r>
              <a:rPr sz="1500" dirty="0"/>
              <a:t> + </a:t>
            </a:r>
            <a:r>
              <a:rPr sz="1500" dirty="0" err="1"/>
              <a:t>LangGraph</a:t>
            </a: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   • Database: SQLite (dev) / PostgreSQL (production)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   • Vector DB: </a:t>
            </a:r>
            <a:r>
              <a:rPr sz="1500" dirty="0" err="1"/>
              <a:t>ChromaDB</a:t>
            </a:r>
            <a:r>
              <a:rPr sz="1500" dirty="0"/>
              <a:t> (RAG for syllabus retrieval)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   • Other: </a:t>
            </a:r>
            <a:r>
              <a:rPr sz="1500" dirty="0" err="1"/>
              <a:t>PyMuPDF</a:t>
            </a:r>
            <a:r>
              <a:rPr sz="1500" dirty="0"/>
              <a:t> (PDF parser), </a:t>
            </a:r>
            <a:r>
              <a:rPr sz="1500" dirty="0" smtClean="0"/>
              <a:t>Docker</a:t>
            </a: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2. Brief Description: End-to-end agent using LLM reasoning with RAG. Modular design allows hot-swapping models. Local-first with cloud option.</a:t>
            </a:r>
          </a:p>
        </p:txBody>
      </p:sp>
    </p:spTree>
    <p:extLst>
      <p:ext uri="{BB962C8B-B14F-4D97-AF65-F5344CB8AC3E}">
        <p14:creationId xmlns:p14="http://schemas.microsoft.com/office/powerpoint/2010/main" val="45845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8C9C-AD10-5F62-CBB2-54F86662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03CE-BBAF-55A9-4F87-BF7D0002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Technical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0536-D5DE-15FF-CCA0-1ADA737A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 wrap="square">
            <a:noAutofit/>
          </a:bodyPr>
          <a:lstStyle/>
          <a:p>
            <a:pPr marL="0" indent="0" algn="ctr">
              <a:buNone/>
            </a:pPr>
            <a:r>
              <a:rPr lang="en-IN" b="1" dirty="0"/>
              <a:t>Methodology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1. Ingestion: Parse PDF syllabi using </a:t>
            </a:r>
            <a:r>
              <a:rPr sz="1500" dirty="0" err="1"/>
              <a:t>PyMuPDF</a:t>
            </a:r>
            <a:r>
              <a:rPr sz="1500" dirty="0"/>
              <a:t> + regex. Store extracted courses, deadlines, exams in </a:t>
            </a:r>
            <a:r>
              <a:rPr sz="1500" dirty="0" err="1"/>
              <a:t>ChromaDB</a:t>
            </a:r>
            <a:r>
              <a:rPr sz="1500" dirty="0"/>
              <a:t> vector database for RAG</a:t>
            </a:r>
            <a:r>
              <a:rPr sz="1500" dirty="0" smtClean="0"/>
              <a:t>.</a:t>
            </a: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2. Planning: </a:t>
            </a:r>
            <a:r>
              <a:rPr sz="1500" dirty="0" err="1"/>
              <a:t>LangChain</a:t>
            </a:r>
            <a:r>
              <a:rPr sz="1500" dirty="0"/>
              <a:t> agent queries LLM with parsed context, deadline proximity, task difficulty, and user preferences to generate ranked weekly plans</a:t>
            </a:r>
            <a:r>
              <a:rPr sz="1500" dirty="0" smtClean="0"/>
              <a:t>.</a:t>
            </a: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3. Conflict Detection: Rule-based engine checks for overlapping deadlines, unbalanced workload, and prerequisite ordering before finalization</a:t>
            </a:r>
            <a:r>
              <a:rPr sz="1500" dirty="0" smtClean="0"/>
              <a:t>.</a:t>
            </a:r>
            <a:endParaRPr sz="15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500" dirty="0"/>
              <a:t>4. Feedback Loop: User accepts, edits, or rejects suggestions. Preferences stored to personalize future planning iterations. Agent explains reasoning on demand.</a:t>
            </a:r>
          </a:p>
        </p:txBody>
      </p:sp>
    </p:spTree>
    <p:extLst>
      <p:ext uri="{BB962C8B-B14F-4D97-AF65-F5344CB8AC3E}">
        <p14:creationId xmlns:p14="http://schemas.microsoft.com/office/powerpoint/2010/main" val="80819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A3FD-6D6B-02CE-6816-929A2EEA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A788-F340-4DF9-7264-A9C312EA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b="1" dirty="0"/>
              <a:t>Technical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72D8B-85C4-D678-60FF-980FE8F6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78401"/>
            <a:ext cx="10820400" cy="536976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dirty="0"/>
              <a:t>Implementation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42" y="2943315"/>
            <a:ext cx="3777031" cy="646226"/>
          </a:xfrm>
          <a:prstGeom prst="round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t>INPUT: Syllabus PDF / Timetable / Assignment List</a:t>
            </a:r>
          </a:p>
        </p:txBody>
      </p:sp>
      <p:sp>
        <p:nvSpPr>
          <p:cNvPr id="5" name="Down Arrow 4"/>
          <p:cNvSpPr/>
          <p:nvPr/>
        </p:nvSpPr>
        <p:spPr>
          <a:xfrm rot="16200000">
            <a:off x="3878274" y="3118480"/>
            <a:ext cx="297957" cy="356078"/>
          </a:xfrm>
          <a:prstGeom prst="down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09678" y="2943315"/>
            <a:ext cx="3777031" cy="64622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rPr dirty="0"/>
              <a:t>PARSER: </a:t>
            </a:r>
            <a:r>
              <a:rPr dirty="0" err="1"/>
              <a:t>PyMuPDF</a:t>
            </a:r>
            <a:r>
              <a:rPr dirty="0"/>
              <a:t> + Regex → Extract courses, exams, deadlines</a:t>
            </a:r>
          </a:p>
        </p:txBody>
      </p:sp>
      <p:sp>
        <p:nvSpPr>
          <p:cNvPr id="7" name="Down Arrow 6"/>
          <p:cNvSpPr/>
          <p:nvPr/>
        </p:nvSpPr>
        <p:spPr>
          <a:xfrm rot="16200000">
            <a:off x="8043010" y="3118479"/>
            <a:ext cx="297957" cy="356078"/>
          </a:xfrm>
          <a:prstGeom prst="down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70027" y="2943315"/>
            <a:ext cx="3777031" cy="646226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t>VECTOR DB: ChromaDB → Store course context for RAG</a:t>
            </a:r>
          </a:p>
        </p:txBody>
      </p:sp>
      <p:sp>
        <p:nvSpPr>
          <p:cNvPr id="9" name="Down Arrow 8"/>
          <p:cNvSpPr/>
          <p:nvPr/>
        </p:nvSpPr>
        <p:spPr>
          <a:xfrm rot="21600000">
            <a:off x="10109563" y="3723978"/>
            <a:ext cx="297957" cy="356078"/>
          </a:xfrm>
          <a:prstGeom prst="down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70027" y="4214493"/>
            <a:ext cx="3777031" cy="646226"/>
          </a:xfrm>
          <a:prstGeom prst="round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rPr dirty="0"/>
              <a:t>LLM AGENT: </a:t>
            </a:r>
            <a:r>
              <a:rPr dirty="0" err="1"/>
              <a:t>LangChain</a:t>
            </a:r>
            <a:r>
              <a:rPr dirty="0"/>
              <a:t> + GPT-4/Gemini → Generate weekly plan</a:t>
            </a:r>
          </a:p>
        </p:txBody>
      </p:sp>
      <p:sp>
        <p:nvSpPr>
          <p:cNvPr id="11" name="Down Arrow 10"/>
          <p:cNvSpPr/>
          <p:nvPr/>
        </p:nvSpPr>
        <p:spPr>
          <a:xfrm rot="5400000">
            <a:off x="8013575" y="4351196"/>
            <a:ext cx="297957" cy="356078"/>
          </a:xfrm>
          <a:prstGeom prst="down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7484" y="4214493"/>
            <a:ext cx="3777031" cy="646226"/>
          </a:xfrm>
          <a:prstGeom prst="roundRect">
            <a:avLst/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rPr dirty="0"/>
              <a:t>VALIDATOR: Conflict Detection → Overlaps, dependencies, balance</a:t>
            </a:r>
          </a:p>
        </p:txBody>
      </p:sp>
      <p:sp>
        <p:nvSpPr>
          <p:cNvPr id="13" name="Down Arrow 12"/>
          <p:cNvSpPr/>
          <p:nvPr/>
        </p:nvSpPr>
        <p:spPr>
          <a:xfrm rot="21600000">
            <a:off x="1784476" y="4995155"/>
            <a:ext cx="297957" cy="356078"/>
          </a:xfrm>
          <a:prstGeom prst="down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940" y="4214493"/>
            <a:ext cx="3777031" cy="64622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rPr dirty="0"/>
              <a:t>UI: </a:t>
            </a:r>
            <a:r>
              <a:rPr dirty="0" err="1"/>
              <a:t>Streamlit</a:t>
            </a:r>
            <a:r>
              <a:rPr dirty="0"/>
              <a:t> Calendar → Accept / Edit / Reject plan</a:t>
            </a:r>
          </a:p>
        </p:txBody>
      </p:sp>
      <p:sp>
        <p:nvSpPr>
          <p:cNvPr id="15" name="Down Arrow 14"/>
          <p:cNvSpPr/>
          <p:nvPr/>
        </p:nvSpPr>
        <p:spPr>
          <a:xfrm rot="5400000">
            <a:off x="3850280" y="4351198"/>
            <a:ext cx="297957" cy="356078"/>
          </a:xfrm>
          <a:prstGeom prst="down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39" y="5485671"/>
            <a:ext cx="3777031" cy="64622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rPr dirty="0"/>
              <a:t>TRACKER: Progress → Mark done → Auto-adaptive </a:t>
            </a:r>
            <a:r>
              <a:rPr dirty="0" err="1"/>
              <a:t>replanning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4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4D19-A5E8-1B5D-27B3-5D29FC35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E899-B16F-047E-B26B-AD2FF530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Feasibility and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C69F-2D25-A3B3-A7AA-A1EADF0BA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 wrap="square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2400" b="1" dirty="0"/>
              <a:t>Feasibility Analysis</a:t>
            </a:r>
          </a:p>
          <a:p>
            <a:pPr marL="0" indent="0">
              <a:lnSpc>
                <a:spcPct val="16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endParaRPr lang="en-IN" b="1" dirty="0"/>
          </a:p>
          <a:p>
            <a:pPr>
              <a:lnSpc>
                <a:spcPct val="16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Can the solution be realistically built?</a:t>
            </a:r>
            <a:br>
              <a:rPr dirty="0"/>
            </a:br>
            <a:r>
              <a:rPr lang="en-IN" dirty="0"/>
              <a:t>→ </a:t>
            </a:r>
            <a:r>
              <a:rPr dirty="0" smtClean="0"/>
              <a:t>Yes</a:t>
            </a:r>
            <a:r>
              <a:rPr dirty="0"/>
              <a:t>. All components (PDF parsing, LLM APIs, </a:t>
            </a:r>
            <a:r>
              <a:rPr dirty="0" err="1"/>
              <a:t>Streamlit</a:t>
            </a:r>
            <a:r>
              <a:rPr dirty="0"/>
              <a:t>, </a:t>
            </a:r>
            <a:r>
              <a:rPr dirty="0" err="1"/>
              <a:t>ChromaDB</a:t>
            </a:r>
            <a:r>
              <a:rPr dirty="0"/>
              <a:t>, </a:t>
            </a:r>
            <a:r>
              <a:rPr dirty="0" err="1"/>
              <a:t>LangChain</a:t>
            </a:r>
            <a:r>
              <a:rPr dirty="0"/>
              <a:t>) are mature, well-documented, and available with free or low-cost tiers</a:t>
            </a:r>
            <a:r>
              <a:rPr dirty="0" smtClean="0"/>
              <a:t>.</a:t>
            </a:r>
            <a:endParaRPr dirty="0"/>
          </a:p>
          <a:p>
            <a:pPr>
              <a:lnSpc>
                <a:spcPct val="16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What resources are required?</a:t>
            </a:r>
            <a:br>
              <a:rPr dirty="0"/>
            </a:br>
            <a:r>
              <a:rPr lang="en-IN" dirty="0"/>
              <a:t>→ </a:t>
            </a:r>
            <a:r>
              <a:rPr dirty="0" smtClean="0"/>
              <a:t>2–3 </a:t>
            </a:r>
            <a:r>
              <a:rPr dirty="0"/>
              <a:t>developers familiar with Python. ~$20 in LLM API credits for dev. Standard laptop. No specialized hardware needed</a:t>
            </a:r>
            <a:r>
              <a:rPr dirty="0" smtClean="0"/>
              <a:t>.</a:t>
            </a:r>
            <a:endParaRPr dirty="0"/>
          </a:p>
          <a:p>
            <a:pPr>
              <a:lnSpc>
                <a:spcPct val="16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Why is it practical and achievable?</a:t>
            </a:r>
            <a:br>
              <a:rPr dirty="0"/>
            </a:br>
            <a:r>
              <a:rPr lang="en-IN" dirty="0"/>
              <a:t>→ </a:t>
            </a:r>
            <a:r>
              <a:rPr dirty="0" smtClean="0"/>
              <a:t>Modular </a:t>
            </a:r>
            <a:r>
              <a:rPr dirty="0"/>
              <a:t>architecture enables parallel development. MVP achievable in 4 weeks. Core logic works with offline fallback models (Llama 3 via </a:t>
            </a:r>
            <a:r>
              <a:rPr dirty="0" err="1"/>
              <a:t>Ollama</a:t>
            </a:r>
            <a:r>
              <a:rPr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0663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BE7C-4895-9E0B-AA5E-DF6D8949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A1E7-0468-BDEF-9A43-15184A83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Feasibility and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A2E3C-73DA-62B5-37F4-6C65CDED0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 wrap="square">
            <a:normAutofit lnSpcReduction="10000"/>
          </a:bodyPr>
          <a:lstStyle/>
          <a:p>
            <a:pPr marL="0" indent="0" algn="ctr"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2100" b="1" dirty="0"/>
              <a:t>Strategies To Overcome Challenges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endParaRPr lang="en-IN" b="1" dirty="0"/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Challenge 1: LLM hallucination in plan generation</a:t>
            </a:r>
            <a:br>
              <a:rPr dirty="0"/>
            </a:br>
            <a:r>
              <a:rPr dirty="0"/>
              <a:t>→ RAG grounding with syllabus text in vector DB, strict JSON output formatting, mandatory human review</a:t>
            </a:r>
            <a:r>
              <a:rPr dirty="0" smtClean="0"/>
              <a:t>.</a:t>
            </a:r>
            <a:endParaRPr dirty="0"/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Challenge 2: Inconsistent PDF parsing across formats</a:t>
            </a:r>
            <a:br>
              <a:rPr dirty="0"/>
            </a:br>
            <a:r>
              <a:rPr dirty="0"/>
              <a:t>→ Template-based extraction with regex. Manual entry fallback for unsupported formats</a:t>
            </a:r>
            <a:r>
              <a:rPr dirty="0" smtClean="0"/>
              <a:t>.</a:t>
            </a:r>
            <a:endParaRPr dirty="0"/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Challenge 3: User adoption friction</a:t>
            </a:r>
            <a:br>
              <a:rPr dirty="0"/>
            </a:br>
            <a:r>
              <a:rPr dirty="0"/>
              <a:t>→ Minimal onboarding (upload &amp; go), intuitive drag-drop calendar, instant value demonstration</a:t>
            </a:r>
            <a:r>
              <a:rPr dirty="0" smtClean="0"/>
              <a:t>.</a:t>
            </a:r>
            <a:endParaRPr dirty="0"/>
          </a:p>
          <a:p>
            <a:pPr>
              <a:lnSpc>
                <a:spcPct val="150000"/>
              </a:lnSpc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Backup Plan: Rule-based heuristic planner activates with predefined scheduling rules if LLM API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364787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9D70-B828-3301-F125-244040BF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DDA5-4D5C-9E5F-C174-8803BE1A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Impact and Benefits Envisaged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5D315-595D-18A2-50E4-F78C2CFD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05470"/>
            <a:ext cx="10820400" cy="4903240"/>
          </a:xfr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 sz="1600" b="1">
                <a:solidFill>
                  <a:srgbClr val="FFFFFF"/>
                </a:solidFill>
              </a:defRPr>
            </a:pPr>
            <a:r>
              <a:rPr sz="1400" dirty="0"/>
              <a:t>Expected Impact</a:t>
            </a:r>
            <a:r>
              <a:rPr sz="1400" dirty="0" smtClean="0"/>
              <a:t>:</a:t>
            </a:r>
            <a:endParaRPr lang="en-IN" sz="1400" b="1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Reduces weekly planning time from ~2 hours to under 5 minutes (95% reduction)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Increases deadline adherence by ~40% through automated reminders and conflict </a:t>
            </a:r>
            <a:r>
              <a:rPr sz="1400" dirty="0" smtClean="0"/>
              <a:t>alerts</a:t>
            </a:r>
            <a:endParaRPr lang="en-IN" sz="1400" dirty="0" smtClean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Eliminates scheduling conflicts with real-time dependency and overlap </a:t>
            </a:r>
            <a:r>
              <a:rPr sz="1400" dirty="0" smtClean="0"/>
              <a:t>checking</a:t>
            </a:r>
            <a:endParaRPr sz="14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 startAt="2"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Key </a:t>
            </a:r>
            <a:r>
              <a:rPr sz="1400" dirty="0"/>
              <a:t>Benefits: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Students: Less stress, better grades through distributed study, improved time </a:t>
            </a:r>
            <a:r>
              <a:rPr sz="1400" dirty="0" smtClean="0"/>
              <a:t>management</a:t>
            </a:r>
            <a:endParaRPr lang="en-IN" sz="1400" dirty="0" smtClean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Institutions: Better academic metrics, reduced dropout risk, workload pattern insights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 startAt="3"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Long-term </a:t>
            </a:r>
            <a:r>
              <a:rPr sz="1400" dirty="0"/>
              <a:t>Value</a:t>
            </a:r>
            <a:r>
              <a:rPr sz="1400" dirty="0" smtClean="0"/>
              <a:t>:</a:t>
            </a:r>
            <a:endParaRPr lang="en-IN" sz="1400" dirty="0" smtClean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Scalable to entire university; integrates with LMS (Moodle, Canvas, Blackboard) via API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sz="1400" dirty="0" smtClean="0"/>
              <a:t>• </a:t>
            </a:r>
            <a:r>
              <a:rPr sz="1400" dirty="0"/>
              <a:t>Anonymized data enables curriculum optimization based on actual student workload patterns</a:t>
            </a:r>
          </a:p>
        </p:txBody>
      </p:sp>
    </p:spTree>
    <p:extLst>
      <p:ext uri="{BB962C8B-B14F-4D97-AF65-F5344CB8AC3E}">
        <p14:creationId xmlns:p14="http://schemas.microsoft.com/office/powerpoint/2010/main" val="189812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D9F0-CE9B-E855-AD24-313228AF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6A1F-0B1A-433F-65D9-E876245B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Why This Idea May Fail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3E445-AA17-45AC-49AE-70F5C7A9A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70787"/>
            <a:ext cx="10820400" cy="4540537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1. LLM Hallucination Risk: Unrealistic plans from inaccurate parsing or invented deadlines</a:t>
            </a:r>
            <a:r>
              <a:rPr dirty="0" smtClean="0"/>
              <a:t>.</a:t>
            </a:r>
            <a:endParaRPr lang="en-IN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→ </a:t>
            </a:r>
            <a:r>
              <a:rPr dirty="0"/>
              <a:t>Mitigation: RAG grounding, strict validation rules, mandatory user review before acceptance</a:t>
            </a:r>
            <a:r>
              <a:rPr dirty="0" smtClean="0"/>
              <a:t>.</a:t>
            </a:r>
            <a:endParaRPr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2. Low Adoption: Students may not trust AI plans or find data entry tedious.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→ </a:t>
            </a:r>
            <a:r>
              <a:rPr dirty="0"/>
              <a:t>Mitigation: PDF upload with auto-parsing, instant value on first use, gamified progress tracking</a:t>
            </a:r>
            <a:r>
              <a:rPr dirty="0" smtClean="0"/>
              <a:t>.</a:t>
            </a:r>
            <a:endParaRPr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3. Data Privacy: Concern about uploading materials to external LLM APIs</a:t>
            </a:r>
            <a:r>
              <a:rPr dirty="0" smtClean="0"/>
              <a:t>.</a:t>
            </a:r>
            <a:endParaRPr lang="en-IN" dirty="0" smtClean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→ </a:t>
            </a:r>
            <a:r>
              <a:rPr dirty="0"/>
              <a:t>Mitigation: Local-first architecture. Option for offline models (Llama 3, Mistral) via </a:t>
            </a:r>
            <a:r>
              <a:rPr dirty="0" err="1"/>
              <a:t>Ollama</a:t>
            </a:r>
            <a:r>
              <a:rPr dirty="0" smtClean="0"/>
              <a:t>.</a:t>
            </a:r>
            <a:endParaRPr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4. Scope Creep: Too many features dilute core planning.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→ </a:t>
            </a:r>
            <a:r>
              <a:rPr dirty="0"/>
              <a:t>Strict MVP scope: planning, editing, tracking only. Bonus features strictly post-MVP.</a:t>
            </a:r>
          </a:p>
        </p:txBody>
      </p:sp>
    </p:spTree>
    <p:extLst>
      <p:ext uri="{BB962C8B-B14F-4D97-AF65-F5344CB8AC3E}">
        <p14:creationId xmlns:p14="http://schemas.microsoft.com/office/powerpoint/2010/main" val="6773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7F83-A7C7-DD32-E5E5-57ADD7B9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88A2-1EBD-2CBD-1CAB-6C89A586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9232-F55B-18C9-691C-4F3DBF782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64093"/>
            <a:ext cx="10820400" cy="4540537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1. Research Papers</a:t>
            </a:r>
            <a:r>
              <a:rPr dirty="0" smtClean="0"/>
              <a:t>:</a:t>
            </a:r>
            <a:endParaRPr lang="en-IN" b="1" dirty="0"/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Credé</a:t>
            </a:r>
            <a:r>
              <a:rPr dirty="0"/>
              <a:t>, M., &amp; </a:t>
            </a:r>
            <a:r>
              <a:rPr dirty="0" err="1"/>
              <a:t>Kuncel</a:t>
            </a:r>
            <a:r>
              <a:rPr dirty="0"/>
              <a:t>, N. R. (2008). "Study Habits, Skills, and Attitudes." Perspectives on Psychological Science.</a:t>
            </a:r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Pintrich</a:t>
            </a:r>
            <a:r>
              <a:rPr dirty="0"/>
              <a:t>, P. R. (2004). "Conceptual Framework for Motivation and Self-Regulated Learning." Educational Psychology Review.</a:t>
            </a:r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/>
              <a:t>Zimmerman, B. J. (2002). "Becoming a Self-Regulated Learner." Theory Into Practice</a:t>
            </a:r>
            <a:r>
              <a:rPr dirty="0" smtClean="0"/>
              <a:t>.</a:t>
            </a:r>
            <a:endParaRPr dirty="0"/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/>
              <a:t>2. Tools &amp; Frameworks:</a:t>
            </a:r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LangChain</a:t>
            </a:r>
            <a:r>
              <a:rPr dirty="0"/>
              <a:t> — </a:t>
            </a:r>
            <a:r>
              <a:rPr dirty="0">
                <a:hlinkClick r:id="rId2"/>
              </a:rPr>
              <a:t>https://www.langchain.com</a:t>
            </a:r>
            <a:r>
              <a:rPr dirty="0" smtClean="0">
                <a:hlinkClick r:id="rId2"/>
              </a:rPr>
              <a:t>/</a:t>
            </a:r>
            <a:endParaRPr lang="en-IN" dirty="0" smtClean="0"/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ChromaDB</a:t>
            </a:r>
            <a:r>
              <a:rPr dirty="0"/>
              <a:t> — </a:t>
            </a:r>
            <a:r>
              <a:rPr dirty="0">
                <a:hlinkClick r:id="rId3"/>
              </a:rPr>
              <a:t>https://www.trychroma.com</a:t>
            </a:r>
            <a:r>
              <a:rPr dirty="0" smtClean="0">
                <a:hlinkClick r:id="rId3"/>
              </a:rPr>
              <a:t>/</a:t>
            </a:r>
            <a:endParaRPr lang="en-IN" dirty="0" smtClean="0"/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Streamlit</a:t>
            </a:r>
            <a:r>
              <a:rPr dirty="0"/>
              <a:t> — </a:t>
            </a:r>
            <a:r>
              <a:rPr dirty="0">
                <a:hlinkClick r:id="rId4"/>
              </a:rPr>
              <a:t>https://streamlit.io</a:t>
            </a:r>
            <a:r>
              <a:rPr dirty="0" smtClean="0">
                <a:hlinkClick r:id="rId4"/>
              </a:rPr>
              <a:t>/</a:t>
            </a:r>
            <a:endParaRPr lang="en-IN" dirty="0" smtClean="0"/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FastAPI</a:t>
            </a:r>
            <a:r>
              <a:rPr dirty="0"/>
              <a:t> — </a:t>
            </a:r>
            <a:r>
              <a:rPr dirty="0">
                <a:hlinkClick r:id="rId5"/>
              </a:rPr>
              <a:t>https://fastapi.tiangolo.com</a:t>
            </a:r>
            <a:r>
              <a:rPr dirty="0" smtClean="0">
                <a:hlinkClick r:id="rId5"/>
              </a:rPr>
              <a:t>/</a:t>
            </a:r>
            <a:endParaRPr lang="en-IN" dirty="0" smtClean="0"/>
          </a:p>
          <a:p>
            <a:pPr marL="0" indent="0">
              <a:lnSpc>
                <a:spcPct val="17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dirty="0" err="1"/>
              <a:t>PyMuPDF</a:t>
            </a:r>
            <a:r>
              <a:rPr dirty="0"/>
              <a:t> — </a:t>
            </a:r>
            <a:r>
              <a:rPr dirty="0">
                <a:hlinkClick r:id="rId6"/>
              </a:rPr>
              <a:t>https://pymupdf.readthedocs.io</a:t>
            </a:r>
            <a:r>
              <a:rPr dirty="0" smtClean="0">
                <a:hlinkClick r:id="rId6"/>
              </a:rPr>
              <a:t>/</a:t>
            </a:r>
            <a:endParaRPr lang="en-IN" dirty="0" smtClean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1600" b="1">
                <a:solidFill>
                  <a:srgbClr val="FFFF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193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681-8DC1-3482-1406-1FD8D5A23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33308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E553F-5030-26D9-CE2C-01A3DE362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61851"/>
            <a:ext cx="9448800" cy="68580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Sponsored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4A6D5-B7AA-A95C-4AF9-7C05E711A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6" y="3703076"/>
            <a:ext cx="10353368" cy="9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877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126</TotalTime>
  <Words>1053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Times New Roman</vt:lpstr>
      <vt:lpstr>Vapor Trail</vt:lpstr>
      <vt:lpstr>Personal Study Planner Agent</vt:lpstr>
      <vt:lpstr>Instructions</vt:lpstr>
      <vt:lpstr>Proposed Solution</vt:lpstr>
      <vt:lpstr>Technical Strategy</vt:lpstr>
      <vt:lpstr>Technical Strategy</vt:lpstr>
      <vt:lpstr>Technical Strategy</vt:lpstr>
      <vt:lpstr>Feasibility and Viability</vt:lpstr>
      <vt:lpstr>Feasibility and Viability</vt:lpstr>
      <vt:lpstr>Impact and Benefits Envisaged</vt:lpstr>
      <vt:lpstr>Why This Idea May Fail ?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Study Planner Agent</dc:title>
  <dc:creator>Joydeep Samanta</dc:creator>
  <cp:lastModifiedBy>nabajyoti pathak</cp:lastModifiedBy>
  <cp:revision>10</cp:revision>
  <dcterms:created xsi:type="dcterms:W3CDTF">2026-06-19T13:23:03Z</dcterms:created>
  <dcterms:modified xsi:type="dcterms:W3CDTF">2026-06-24T14:27:44Z</dcterms:modified>
</cp:coreProperties>
</file>